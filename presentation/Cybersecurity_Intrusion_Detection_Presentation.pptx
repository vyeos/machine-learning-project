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/>
  <p:notesSz cx="6858000" cy="9144000"/>
  <p:defaultTextStyle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theme" Target="theme/theme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5B21-E8EE-4505-87E0-7B7F2C3DBBD0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6D5D-A00E-4AA9-84F2-364CBECE0EE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09E6-1126-4CCC-8F95-892B304C12E9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0F9E-EF7E-4C26-8662-25A73F2263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82BF-5467-4883-8896-824F7369BC9A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18080-B33E-4073-8615-72D8F5AE8F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6248-C912-41CA-84D9-08E1C7982093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9569-04AF-4288-8880-64CE52ABE7A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/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B636-F4D9-4299-85F9-44D23E27C49C}" type="datetimeFigureOut">
              <a:rPr lang="en-US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3E07-937E-4FED-8300-89129584345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C346-E4DF-45C0-848B-E2AC5513E0D5}" type="datetimeFigureOut">
              <a:rPr lang="en-US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B55B-FA15-48BA-860D-0231187503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B29E-DC2A-4D67-887F-3BE2DC8489D6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EBC0-ADA9-4FA7-889C-9287646BC7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563BD-7186-488E-816C-8F41FA24179F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25AB8-FB3A-479C-8780-0B7E5F586C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2C48-70E8-4C8D-81F4-17FB598144B8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C29A-6C4F-4141-86E3-1A3E2D58E3A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2B83-4DFE-444B-8222-D5FF1EA6B44C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C649-D3E0-46CB-87C1-67136E4226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A40F9-1701-4EB4-806D-4ED861E7A003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E78A-EB3E-401E-81B5-D7F53201DAF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DADCF-DC63-475D-8D69-AEBF4EDF3BBC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Cybersecurity Intrusion Detection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/>
              <a:t>ECSCI24302 - [Course title as per syllabus] | UNSW-NB15 | [Team member names] | [Allotted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Problem and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Detect malicious network flows without leakage (UNSW-NB15)</a:t>
            </a:r>
          </a:p>
          <a:p>
            <a:r>
              <a:rPr/>
              <a:t>175,341 raw training rows (dedup -&gt; 107,740); 82,332 untouched test rows</a:t>
            </a:r>
          </a:p>
          <a:p>
            <a:r>
              <a:rPr/>
              <a:t>Baseline + 4 ML models, identical leak-free pipelines</a:t>
            </a:r>
          </a:p>
          <a:p>
            <a:r>
              <a:rPr/>
              <a:t>Single test pass at the very 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Dataset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Row-count variance: 175,341 train / 82,332 test, 45 columns verified</a:t>
            </a:r>
          </a:p>
          <a:p>
            <a:r>
              <a:rPr/>
              <a:t>Access page https://www.kaggle.com/datasets/mrwellsdavid/unsw-nb15</a:t>
            </a:r>
          </a:p>
          <a:p>
            <a:r>
              <a:rPr/>
              <a:t>Credentials-free verified mirror https://huggingface.co/datasets/Mireu-Lab/UNSW-NB15</a:t>
            </a:r>
          </a:p>
          <a:p>
            <a:r>
              <a:rPr/>
              <a:t>Accessed 2026-10-26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Data-quality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67,601 exact duplicates in training - removed</a:t>
            </a:r>
          </a:p>
          <a:p>
            <a:r>
              <a:rPr/>
              <a:t>26,387 in testing - kept (deployment realism)</a:t>
            </a:r>
          </a:p>
          <a:p>
            <a:r>
              <a:rPr/>
              <a:t>0 missing cells; 0 label mismatches</a:t>
            </a:r>
          </a:p>
          <a:p>
            <a:r>
              <a:rPr/>
              <a:t>Constant features dropped via 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Exploratory data analysis</a:t>
            </a:r>
          </a:p>
        </p:txBody>
      </p:sp>
      <p:pic>
        <p:nvPicPr>
          <p:cNvPr id="3" name="Picture 2" descr="fig05_correlation_heatmap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1480" y="1371600"/>
            <a:ext cx="4746719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91200" y="1600200"/>
            <a:ext cx="3276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sz="1600"/>
              <a:t>- sttl's correlation with 'malicious' 0.693 - strongest</a:t>
            </a:r>
            <a:endParaRPr sz="1600"/>
          </a:p>
          <a:p>
            <a:pPr>
              <a:defRPr sz="1400"/>
            </a:pPr>
            <a:endParaRPr sz="1600"/>
          </a:p>
          <a:p>
            <a:pPr>
              <a:defRPr sz="1400"/>
            </a:pPr>
            <a:r>
              <a:rPr sz="1600"/>
              <a:t>- Medians separate classes: dur 0.0386 vs 9e-06, sbytes 1470 vs 200, dbytes 1110 vs 0</a:t>
            </a:r>
            <a:endParaRPr sz="1600"/>
          </a:p>
          <a:p>
            <a:pPr>
              <a:defRPr sz="1400"/>
            </a:pPr>
            <a:endParaRPr sz="1600"/>
          </a:p>
          <a:p>
            <a:pPr>
              <a:defRPr sz="1400"/>
            </a:pPr>
            <a:r>
              <a:rPr sz="1600"/>
              <a:t>- Descriptive only - prediction test comes next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Pipelines (identical shape)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FeatureEngineer (16 engineered features)</a:t>
            </a:r>
          </a:p>
          <a:p>
            <a:r>
              <a:rPr/>
              <a:t>Median imputer, scaler only for linear model</a:t>
            </a:r>
          </a:p>
          <a:p>
            <a:r>
              <a:rPr/>
              <a:t>OneHotEncoder(handle_unknown='infrequent_if_exist', min_frequency=25)</a:t>
            </a:r>
          </a:p>
          <a:p>
            <a:r>
              <a:rPr/>
              <a:t>id / label / attack_cat excluded from model inputs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Model zoo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Dummy (most_frequent) baseline</a:t>
            </a:r>
          </a:p>
          <a:p>
            <a:r>
              <a:rPr/>
              <a:t>LogisticRegression (balanced, scaled)</a:t>
            </a:r>
          </a:p>
          <a:p>
            <a:r>
              <a:rPr/>
              <a:t>DecisionTree (depth 12, balanced)</a:t>
            </a:r>
          </a:p>
          <a:p>
            <a:r>
              <a:rPr/>
              <a:t>RandomForest (200 estimators, balanced_subsample)</a:t>
            </a:r>
          </a:p>
          <a:p>
            <a:r>
              <a:rPr/>
              <a:t>HistGradientBoosting (250 iterations)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Tuning protocol (train partition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cv=3, scoring F1, 60k stratified subsample</a:t>
            </a:r>
          </a:p>
          <a:p>
            <a:r>
              <a:rPr/>
              <a:t>GridSearchCV for LogisticRegression and DecisionTree</a:t>
            </a:r>
          </a:p>
          <a:p>
            <a:r>
              <a:rPr/>
              <a:t>RandomizedSearchCV for RandomForest and HistGradientBoosting</a:t>
            </a:r>
          </a:p>
          <a:p>
            <a:r>
              <a:rPr/>
              <a:t>Search spaces fixed a priori (documented in results/tuning_*.json)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Threshold trade-off (validation)</a:t>
            </a:r>
          </a:p>
        </p:txBody>
      </p:sp>
      <p:pic>
        <p:nvPicPr>
          <p:cNvPr id="3" name="Picture 2" descr="fig12_threshold_tradeoff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1480" y="1371600"/>
            <a:ext cx="5424337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15544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/>
              <a:t>- Rule fixed a priori: max F1 on a 20% validation slice</a:t>
            </a:r>
          </a:p>
          <a:p>
            <a:pPr>
              <a:defRPr sz="1400"/>
            </a:pPr>
            <a:r>
              <a:rPr/>
              <a:t>- Threshold = 0.480</a:t>
            </a:r>
          </a:p>
          <a:p>
            <a:pPr>
              <a:defRPr sz="1400"/>
            </a:pPr>
            <a:r>
              <a:rPr/>
              <a:t>- Test set untouched at this point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Single test pass - confusion matrix</a:t>
            </a:r>
          </a:p>
        </p:txBody>
      </p:sp>
      <p:pic>
        <p:nvPicPr>
          <p:cNvPr id="3" name="Picture 2" descr="fig10_confusion_matrix_final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1480" y="1371600"/>
            <a:ext cx="4438872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6002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/>
              <a:t>- accuracy 0.8712 / precision 0.8154 / recall 0.9903 / F1 0.8944</a:t>
            </a:r>
          </a:p>
          <a:p>
            <a:pPr>
              <a:defRPr sz="1400"/>
            </a:pPr>
            <a:r>
              <a:rPr/>
              <a:t>- ROC-AUC 0.9868 / AP 0.9903</a:t>
            </a:r>
          </a:p>
          <a:p>
            <a:pPr>
              <a:defRPr sz="1400"/>
            </a:pPr>
            <a:r>
              <a:rPr/>
              <a:t>- tn=26,836 fp=10,164 fn=440 tp=44,892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Model comparison</a:t>
            </a:r>
          </a:p>
        </p:txBody>
      </p:sp>
      <p:pic>
        <p:nvPicPr>
          <p:cNvPr id="3" name="Picture 2" descr="fig11_model_comparison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1480" y="1371600"/>
            <a:ext cx="4170174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6002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/>
              <a:t>- Same pipelines; identical test pass</a:t>
            </a:r>
          </a:p>
          <a:p>
            <a:pPr>
              <a:defRPr sz="1400"/>
            </a:pPr>
            <a:r>
              <a:rPr/>
              <a:t>- HistGradientBoosting (tuned) leads on every reported metric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Error analysis</a:t>
            </a:r>
          </a:p>
        </p:txBody>
      </p:sp>
      <p:pic>
        <p:nvPicPr>
          <p:cNvPr id="3" name="Picture 2" descr="fig15_recall_by_attack_family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1480" y="1371600"/>
            <a:ext cx="6494435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10400" y="1554480"/>
            <a:ext cx="1905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/>
              <a:t>- Fuzzers hardest: 372 of 6,062 missed (6.14%)</a:t>
            </a:r>
          </a:p>
          <a:p>
            <a:pPr>
              <a:defRPr sz="1400"/>
            </a:pPr>
            <a:r>
              <a:rPr/>
              <a:t>- Backdoor easiest: 0 missed</a:t>
            </a:r>
          </a:p>
          <a:p>
            <a:pPr>
              <a:defRPr sz="1400"/>
            </a:pPr>
            <a:r>
              <a:rPr/>
              <a:t>- FP medians: sttl 254 vs 31 for correct benign; dur 0.68 vs 0.06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Interpretation</a:t>
            </a:r>
          </a:p>
        </p:txBody>
      </p:sp>
      <p:pic>
        <p:nvPicPr>
          <p:cNvPr id="3" name="Picture 2" descr="fig13_permutation_importanc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1480" y="1371600"/>
            <a:ext cx="5798669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15544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/>
              <a:t>- sttl dominates (0.3748) - synthetic-capture schema artifact</a:t>
            </a:r>
          </a:p>
          <a:p>
            <a:pPr>
              <a:defRPr sz="1400"/>
            </a:pPr>
            <a:r>
              <a:rPr/>
              <a:t>- Importance is statistical, not causal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Optional multi-class extension</a:t>
            </a:r>
          </a:p>
        </p:txBody>
      </p:sp>
      <p:pic>
        <p:nvPicPr>
          <p:cNvPr id="3" name="Picture 2" descr="fig16_multiclass_confusion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1480" y="1371600"/>
            <a:ext cx="4624902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0" y="1417638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/>
              <a:t>- 10 families; accuracy 0.6814; macro-F1 0.5129</a:t>
            </a:r>
          </a:p>
          <a:p>
            <a:pPr>
              <a:defRPr sz="1400"/>
            </a:pPr>
            <a:r>
              <a:rPr/>
              <a:t>- Analysis (38.26%) and DoS (12.40%) recall genuinely hard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Limitations (honest)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FPR 27.47% - train/test shift; disclosed, not hidden</a:t>
            </a:r>
          </a:p>
          <a:p>
            <a:r>
              <a:rPr/>
              <a:t>sttl importance: schema artifact (does not generalise)</a:t>
            </a:r>
          </a:p>
          <a:p>
            <a:r>
              <a:rPr/>
              <a:t>Demo accuracy 80% on 10 records = sanity check only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Conclusion and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Test F1 0.8944 under one strict leakage regime</a:t>
            </a:r>
          </a:p>
          <a:p>
            <a:r>
              <a:rPr/>
              <a:t>All numbers come from findings.md (single source of truth)</a:t>
            </a:r>
          </a:p>
          <a:p>
            <a:r>
              <a:rPr/>
              <a:t>python -m src.download_data / src.train / app.py / pytest</a:t>
            </a:r>
          </a:p>
          <a:p>
            <a:r>
              <a:rPr/>
              <a:t>random_state=42 end-to-end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algn="b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  <a:scene3d xmlns:a="http://schemas.openxmlformats.org/drawingml/2006/main"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xmlns:a="http://schemas.openxmlformats.org/drawingml/2006/main"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 xmlns:a="http://schemas.openxmlformats.org/drawingml/2006/main"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16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</cp:coreProperties>
</file>